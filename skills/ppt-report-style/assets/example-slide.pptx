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858750" cy="72326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283E4E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甲</c:v>
                </c:pt>
                <c:pt idx="1">
                  <c:v>乙</c:v>
                </c:pt>
                <c:pt idx="2">
                  <c:v>丙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45</c:v>
                </c:pt>
                <c:pt idx="2">
                  <c:v>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600" b="1">
                  <a:solidFill>
                    <a:srgbClr val="283E4E"/>
                  </a:solidFill>
                  <a:latin typeface="黑体"/>
                  <a:ea typeface="黑体"/>
                  <a:cs typeface="黑体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12700">
            <a:solidFill>
              <a:srgbClr val="283E4E"/>
            </a:solidFill>
          </a:ln>
        </c:spPr>
        <c:txPr>
          <a:bodyPr/>
          <a:lstStyle/>
          <a:p>
            <a:pPr>
              <a:defRPr sz="16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</c:scaling>
        <c:delete val="1"/>
        <c:axPos val="l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600">
          <a:solidFill>
            <a:srgbClr val="000000"/>
          </a:solidFill>
          <a:latin typeface="宋体"/>
          <a:ea typeface="宋体"/>
          <a:cs typeface="宋体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【示例页】仅用于演示版式，不是真实内容。讲稿结构：导语 → 三条实证 → 一句判断 → 结论条。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【表格示例页】演示强数据用表格的样式：表头深色、交替行底纹、关键数值主题色。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0" y="237744"/>
            <a:ext cx="5577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示例 · 汇报页骨架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21440" y="237744"/>
            <a:ext cx="8321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283E4E"/>
                </a:solidFill>
                <a:latin typeface="黑体"/>
                <a:ea typeface="黑体"/>
                <a:cs typeface="黑体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85062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>
                <a:solidFill>
                  <a:srgbClr val="283E4E"/>
                </a:solidFill>
                <a:latin typeface="黑体"/>
                <a:ea typeface="黑体"/>
                <a:cs typeface="黑体"/>
              </a:rPr>
              <a:t>示例页：左文右图与几何记忆点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85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本示例仅演示版式与视觉规范，数值均为虚构占位数据。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850624" cy="10972"/>
          </a:xfrm>
          <a:prstGeom prst="rect">
            <a:avLst/>
          </a:prstGeom>
          <a:solidFill>
            <a:srgbClr val="283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02920" y="1591056"/>
            <a:ext cx="6492240" cy="86868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591056"/>
            <a:ext cx="41148" cy="868680"/>
          </a:xfrm>
          <a:prstGeom prst="rect">
            <a:avLst/>
          </a:prstGeom>
          <a:solidFill>
            <a:srgbClr val="283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94944" y="1682496"/>
            <a:ext cx="6163056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>
                <a:solidFill>
                  <a:srgbClr val="000000"/>
                </a:solidFill>
                <a:latin typeface="楷体"/>
                <a:ea typeface="楷体"/>
                <a:cs typeface="楷体"/>
              </a:rPr>
              <a:t>这是导语块：演示位置、字号、行距与浅底强调样式，文字内容为占位示意。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596896"/>
            <a:ext cx="41148" cy="603504"/>
          </a:xfrm>
          <a:prstGeom prst="rect">
            <a:avLst/>
          </a:prstGeom>
          <a:solidFill>
            <a:srgbClr val="283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94944" y="2596896"/>
            <a:ext cx="6254496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70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示例指标 A 达到 </a:t>
            </a:r>
            <a:r>
              <a:rPr sz="1700">
                <a:solidFill>
                  <a:srgbClr val="283E4E"/>
                </a:solidFill>
                <a:latin typeface="黑体"/>
                <a:ea typeface="黑体"/>
                <a:cs typeface="黑体"/>
              </a:rPr>
              <a:t>38.6</a:t>
            </a:r>
            <a:r>
              <a:rPr sz="170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（占位数值）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36976"/>
            <a:ext cx="41148" cy="603504"/>
          </a:xfrm>
          <a:prstGeom prst="rect">
            <a:avLst/>
          </a:prstGeom>
          <a:solidFill>
            <a:srgbClr val="283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94944" y="3236976"/>
            <a:ext cx="6254496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70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示例指标 B 同比变化 </a:t>
            </a:r>
            <a:r>
              <a:rPr sz="1700">
                <a:solidFill>
                  <a:srgbClr val="283E4E"/>
                </a:solidFill>
                <a:latin typeface="黑体"/>
                <a:ea typeface="黑体"/>
                <a:cs typeface="黑体"/>
              </a:rPr>
              <a:t>+12.4</a:t>
            </a:r>
            <a:r>
              <a:rPr sz="170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（占位数值）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877056"/>
            <a:ext cx="41148" cy="603504"/>
          </a:xfrm>
          <a:prstGeom prst="rect">
            <a:avLst/>
          </a:prstGeom>
          <a:solidFill>
            <a:srgbClr val="283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94944" y="3877056"/>
            <a:ext cx="6254496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70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示例指标 C 覆盖范围 </a:t>
            </a:r>
            <a:r>
              <a:rPr sz="1700">
                <a:solidFill>
                  <a:srgbClr val="283E4E"/>
                </a:solidFill>
                <a:latin typeface="黑体"/>
                <a:ea typeface="黑体"/>
                <a:cs typeface="黑体"/>
              </a:rPr>
              <a:t>1,200</a:t>
            </a:r>
            <a:r>
              <a:rPr sz="170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（占位数值）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626864"/>
            <a:ext cx="6492240" cy="96012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02920" y="4626864"/>
            <a:ext cx="41148" cy="960120"/>
          </a:xfrm>
          <a:prstGeom prst="rect">
            <a:avLst/>
          </a:prstGeom>
          <a:solidFill>
            <a:srgbClr val="283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94944" y="4718304"/>
            <a:ext cx="6163056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>
                <a:solidFill>
                  <a:srgbClr val="283E4E"/>
                </a:solidFill>
                <a:latin typeface="黑体"/>
                <a:ea typeface="黑体"/>
                <a:cs typeface="黑体"/>
              </a:rPr>
              <a:t>示例判断句：用一句话收束左侧信息，主题色加粗，作为口头汇报的落点。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78040" y="1591056"/>
            <a:ext cx="5175504" cy="1572768"/>
          </a:xfrm>
          <a:prstGeom prst="rect">
            <a:avLst/>
          </a:prstGeom>
          <a:solidFill>
            <a:srgbClr val="F1F5F8"/>
          </a:solidFill>
          <a:ln w="9525">
            <a:solidFill>
              <a:srgbClr val="B7C1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178040" y="2103120"/>
            <a:ext cx="51755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占位配图区域：实稿放实景照片，按框裁切填满。</a:t>
            </a:r>
          </a:p>
        </p:txBody>
      </p:sp>
      <p:sp>
        <p:nvSpPr>
          <p:cNvPr id="21" name="Oval 20"/>
          <p:cNvSpPr/>
          <p:nvPr/>
        </p:nvSpPr>
        <p:spPr>
          <a:xfrm>
            <a:off x="7178040" y="3346704"/>
            <a:ext cx="1645920" cy="1645920"/>
          </a:xfrm>
          <a:prstGeom prst="ellipse">
            <a:avLst/>
          </a:prstGeom>
          <a:solidFill>
            <a:srgbClr val="283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69480" y="3749039"/>
            <a:ext cx="1463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>
                <a:solidFill>
                  <a:srgbClr val="FFFFFF"/>
                </a:solidFill>
                <a:latin typeface="黑体"/>
                <a:ea typeface="黑体"/>
                <a:cs typeface="黑体"/>
              </a:rPr>
              <a:t>38.6%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261104"/>
            <a:ext cx="1463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占位数值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3346704"/>
            <a:ext cx="32552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对比图（示例）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9098280" y="3621024"/>
          <a:ext cx="3255264" cy="22128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Rectangle 25"/>
          <p:cNvSpPr/>
          <p:nvPr/>
        </p:nvSpPr>
        <p:spPr>
          <a:xfrm>
            <a:off x="502920" y="6181344"/>
            <a:ext cx="41148" cy="512064"/>
          </a:xfrm>
          <a:prstGeom prst="rect">
            <a:avLst/>
          </a:prstGeom>
          <a:solidFill>
            <a:srgbClr val="283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94944" y="6181344"/>
            <a:ext cx="115214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示例结论条：用一句话写清证据强弱与边界，作为整页的落点。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0" y="237744"/>
            <a:ext cx="5577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示例 · 汇报页骨架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21440" y="237744"/>
            <a:ext cx="8321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283E4E"/>
                </a:solidFill>
                <a:latin typeface="黑体"/>
                <a:ea typeface="黑体"/>
                <a:cs typeface="黑体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85062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>
                <a:solidFill>
                  <a:srgbClr val="283E4E"/>
                </a:solidFill>
                <a:latin typeface="黑体"/>
                <a:ea typeface="黑体"/>
                <a:cs typeface="黑体"/>
              </a:rPr>
              <a:t>示例页：强数据内容用表格承载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85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指标对比、口径对照、多维数据用表格；叙事与机制内容用方块。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850624" cy="10972"/>
          </a:xfrm>
          <a:prstGeom prst="rect">
            <a:avLst/>
          </a:prstGeom>
          <a:solidFill>
            <a:srgbClr val="283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00784"/>
          <a:ext cx="11850624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920240"/>
                <a:gridCol w="1920240"/>
                <a:gridCol w="1920240"/>
                <a:gridCol w="3346704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指标</a:t>
                      </a:r>
                    </a:p>
                  </a:txBody>
                  <a:tcPr marL="128016" marR="91440" marT="45720" marB="45720" anchor="ctr">
                    <a:solidFill>
                      <a:srgbClr val="283E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2024</a:t>
                      </a:r>
                    </a:p>
                  </a:txBody>
                  <a:tcPr marL="128016" marR="91440" marT="45720" marB="45720" anchor="ctr">
                    <a:solidFill>
                      <a:srgbClr val="283E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2025</a:t>
                      </a:r>
                    </a:p>
                  </a:txBody>
                  <a:tcPr marL="128016" marR="91440" marT="45720" marB="45720" anchor="ctr">
                    <a:solidFill>
                      <a:srgbClr val="283E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变化</a:t>
                      </a:r>
                    </a:p>
                  </a:txBody>
                  <a:tcPr marL="128016" marR="91440" marT="45720" marB="45720" anchor="ctr">
                    <a:solidFill>
                      <a:srgbClr val="283E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口径</a:t>
                      </a:r>
                    </a:p>
                  </a:txBody>
                  <a:tcPr marL="128016" marR="91440" marT="45720" marB="45720" anchor="ctr">
                    <a:solidFill>
                      <a:srgbClr val="283E4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指标甲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>
                          <a:solidFill>
                            <a:srgbClr val="283E4E"/>
                          </a:solidFill>
                          <a:latin typeface="黑体"/>
                          <a:ea typeface="黑体"/>
                          <a:cs typeface="黑体"/>
                        </a:rPr>
                        <a:t>1,180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>
                          <a:solidFill>
                            <a:srgbClr val="283E4E"/>
                          </a:solidFill>
                          <a:latin typeface="黑体"/>
                          <a:ea typeface="黑体"/>
                          <a:cs typeface="黑体"/>
                        </a:rPr>
                        <a:t>1,420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>
                          <a:solidFill>
                            <a:srgbClr val="283E4E"/>
                          </a:solidFill>
                          <a:latin typeface="黑体"/>
                          <a:ea typeface="黑体"/>
                          <a:cs typeface="黑体"/>
                        </a:rPr>
                        <a:t>+20.3%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示例口径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指标乙</a:t>
                      </a:r>
                    </a:p>
                  </a:txBody>
                  <a:tcPr marL="128016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>
                          <a:solidFill>
                            <a:srgbClr val="283E4E"/>
                          </a:solidFill>
                          <a:latin typeface="黑体"/>
                          <a:ea typeface="黑体"/>
                          <a:cs typeface="黑体"/>
                        </a:rPr>
                        <a:t>62.1</a:t>
                      </a:r>
                    </a:p>
                  </a:txBody>
                  <a:tcPr marL="128016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>
                          <a:solidFill>
                            <a:srgbClr val="283E4E"/>
                          </a:solidFill>
                          <a:latin typeface="黑体"/>
                          <a:ea typeface="黑体"/>
                          <a:cs typeface="黑体"/>
                        </a:rPr>
                        <a:t>58.4</a:t>
                      </a:r>
                    </a:p>
                  </a:txBody>
                  <a:tcPr marL="128016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>
                          <a:solidFill>
                            <a:srgbClr val="283E4E"/>
                          </a:solidFill>
                          <a:latin typeface="黑体"/>
                          <a:ea typeface="黑体"/>
                          <a:cs typeface="黑体"/>
                        </a:rPr>
                        <a:t>−3.7</a:t>
                      </a:r>
                    </a:p>
                  </a:txBody>
                  <a:tcPr marL="128016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示例口径</a:t>
                      </a:r>
                    </a:p>
                  </a:txBody>
                  <a:tcPr marL="128016" marR="91440" marT="45720" marB="45720" anchor="ctr">
                    <a:solidFill>
                      <a:srgbClr val="F1F5F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指标丙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>
                          <a:solidFill>
                            <a:srgbClr val="283E4E"/>
                          </a:solidFill>
                          <a:latin typeface="黑体"/>
                          <a:ea typeface="黑体"/>
                          <a:cs typeface="黑体"/>
                        </a:rPr>
                        <a:t>340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>
                          <a:solidFill>
                            <a:srgbClr val="283E4E"/>
                          </a:solidFill>
                          <a:latin typeface="黑体"/>
                          <a:ea typeface="黑体"/>
                          <a:cs typeface="黑体"/>
                        </a:rPr>
                        <a:t>512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>
                          <a:solidFill>
                            <a:srgbClr val="283E4E"/>
                          </a:solidFill>
                          <a:latin typeface="黑体"/>
                          <a:ea typeface="黑体"/>
                          <a:cs typeface="黑体"/>
                        </a:rPr>
                        <a:t>+50.6%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示例口径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指标丁</a:t>
                      </a:r>
                    </a:p>
                  </a:txBody>
                  <a:tcPr marL="128016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>
                          <a:solidFill>
                            <a:srgbClr val="283E4E"/>
                          </a:solidFill>
                          <a:latin typeface="黑体"/>
                          <a:ea typeface="黑体"/>
                          <a:cs typeface="黑体"/>
                        </a:rPr>
                        <a:t>9.6</a:t>
                      </a:r>
                    </a:p>
                  </a:txBody>
                  <a:tcPr marL="128016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>
                          <a:solidFill>
                            <a:srgbClr val="283E4E"/>
                          </a:solidFill>
                          <a:latin typeface="黑体"/>
                          <a:ea typeface="黑体"/>
                          <a:cs typeface="黑体"/>
                        </a:rPr>
                        <a:t>12.8</a:t>
                      </a:r>
                    </a:p>
                  </a:txBody>
                  <a:tcPr marL="128016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>
                          <a:solidFill>
                            <a:srgbClr val="283E4E"/>
                          </a:solidFill>
                          <a:latin typeface="黑体"/>
                          <a:ea typeface="黑体"/>
                          <a:cs typeface="黑体"/>
                        </a:rPr>
                        <a:t>+33.3%</a:t>
                      </a:r>
                    </a:p>
                  </a:txBody>
                  <a:tcPr marL="128016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示例口径</a:t>
                      </a:r>
                    </a:p>
                  </a:txBody>
                  <a:tcPr marL="128016" marR="91440" marT="45720" marB="45720" anchor="ctr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120640"/>
            <a:ext cx="41148" cy="822960"/>
          </a:xfrm>
          <a:prstGeom prst="rect">
            <a:avLst/>
          </a:prstGeom>
          <a:solidFill>
            <a:srgbClr val="283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94944" y="5120640"/>
            <a:ext cx="115214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表格页同样遵守字号下限与三色限制：表头主题色底白字，关键数值主题色，正文黑色。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