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12858750" cy="72326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spPr>
            <a:solidFill>
              <a:srgbClr val="283E4E"/>
            </a:solidFill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甲</c:v>
                </c:pt>
                <c:pt idx="1">
                  <c:v>乙</c:v>
                </c:pt>
                <c:pt idx="2">
                  <c:v>丙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62</c:v>
                </c:pt>
                <c:pt idx="1">
                  <c:v>45</c:v>
                </c:pt>
                <c:pt idx="2">
                  <c:v>28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600" b="1">
                  <a:solidFill>
                    <a:srgbClr val="283E4E"/>
                  </a:solidFill>
                  <a:latin typeface="Arial"/>
                  <a:ea typeface="宋体"/>
                  <a:cs typeface="宋体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9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12700">
            <a:solidFill>
              <a:srgbClr val="283E4E"/>
            </a:solidFill>
          </a:ln>
        </c:spPr>
        <c:txPr>
          <a:bodyPr/>
          <a:lstStyle/>
          <a:p>
            <a:pPr>
              <a:defRPr sz="1600">
                <a:solidFill>
                  <a:srgbClr val="000000"/>
                </a:solidFill>
                <a:latin typeface="Arial"/>
                <a:ea typeface="宋体"/>
                <a:cs typeface="宋体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0.0"/>
        </c:scaling>
        <c:delete val="1"/>
        <c:axPos val="l"/>
        <c:majorTickMark val="out"/>
        <c:minorTickMark val="none"/>
        <c:tickLblPos val="nextTo"/>
        <c:crossAx val="-2068027336"/>
        <c:crosses val="autoZero"/>
      </c:valAx>
      <c:spPr>
        <a:noFill/>
        <a:ln>
          <a:noFill/>
        </a:ln>
      </c:spPr>
    </c:plotArea>
    <c:dispBlanksAs val="gap"/>
  </c:chart>
  <c:spPr>
    <a:noFill/>
    <a:ln>
      <a:noFill/>
    </a:ln>
  </c:spPr>
  <c:txPr>
    <a:bodyPr/>
    <a:lstStyle/>
    <a:p>
      <a:pPr>
        <a:defRPr sz="1600">
          <a:solidFill>
            <a:srgbClr val="000000"/>
          </a:solidFill>
          <a:latin typeface="Arial"/>
          <a:ea typeface="宋体"/>
          <a:cs typeface="宋体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【示例页 · 讲稿模板】</a:t>
            </a:r>
          </a:p>
          <a:p>
            <a:r>
              <a:t>本页只是版式示例，所有数值都是虚构占位数据，不要当作真实结论引用。</a:t>
            </a:r>
          </a:p>
          <a:p>
            <a:r>
              <a:t>讲解时按这个节奏走：先用一句话导语说明这一页要回答什么问题；再逐条讲三条实证，每条都是"指标名 + 数值 + 口径"写在同一句里；然后用一句判断收束，把数字背后的含义说清楚；最后用底部结论条点出证据强弱与边界。</a:t>
            </a:r>
          </a:p>
          <a:p>
            <a:r>
              <a:t>如果换成真实数据，来源、统计口径、发布时间一律写进备注，不要放到版面上。</a:t>
            </a:r>
          </a:p>
          <a:p>
            <a:r>
              <a:t>按这个节奏讲完大约需要一分钟。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【表格示例页 · 讲稿模板】</a:t>
            </a:r>
          </a:p>
          <a:p>
            <a:r>
              <a:t>本页演示"强数据用表格"的样式：表头用主题色底白字，数值列用主题色，正文用黑色，交替行加浅底。</a:t>
            </a:r>
          </a:p>
          <a:p>
            <a:r>
              <a:t>讲的时候不要逐格念表，而是先说这张表回答什么问题、结论是什么，再点出两三个关键数字的变化。</a:t>
            </a:r>
          </a:p>
          <a:p>
            <a:r>
              <a:t>如果这个表格承载的是需要逐项核对的内容，就把口径与来源写进备注，必要时附一句"该列数据截至某年某月"。</a:t>
            </a:r>
          </a:p>
          <a:p>
            <a:r>
              <a:t>表格页通常比图示页快，一分钟左右讲完。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852160" y="219456"/>
            <a:ext cx="5577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>
                <a:solidFill>
                  <a:srgbClr val="000000"/>
                </a:solidFill>
                <a:latin typeface="Times New Roman"/>
                <a:ea typeface="宋体"/>
                <a:cs typeface="宋体"/>
              </a:rPr>
              <a:t>示例 · 汇报页骨架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521440" y="219456"/>
            <a:ext cx="83210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>
                <a:solidFill>
                  <a:srgbClr val="283E4E"/>
                </a:solidFill>
                <a:latin typeface="Arial"/>
                <a:ea typeface="黑体"/>
                <a:cs typeface="黑体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30352"/>
            <a:ext cx="11850624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>
                <a:solidFill>
                  <a:srgbClr val="283E4E"/>
                </a:solidFill>
                <a:latin typeface="Arial"/>
                <a:ea typeface="黑体"/>
                <a:cs typeface="黑体"/>
              </a:rPr>
              <a:t>示例页：左文右图与几何记忆点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52144"/>
            <a:ext cx="1185062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>
                <a:solidFill>
                  <a:srgbClr val="000000"/>
                </a:solidFill>
                <a:latin typeface="Times New Roman"/>
                <a:ea typeface="宋体"/>
                <a:cs typeface="宋体"/>
              </a:rPr>
              <a:t>本示例仅演示版式与视觉规范，数值均为虚构占位数据。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554480"/>
            <a:ext cx="11850624" cy="10972"/>
          </a:xfrm>
          <a:prstGeom prst="rect">
            <a:avLst/>
          </a:prstGeom>
          <a:solidFill>
            <a:srgbClr val="283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02920" y="1664208"/>
            <a:ext cx="6492240" cy="960120"/>
          </a:xfrm>
          <a:prstGeom prst="rect">
            <a:avLst/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02920" y="1664208"/>
            <a:ext cx="41148" cy="960120"/>
          </a:xfrm>
          <a:prstGeom prst="rect">
            <a:avLst/>
          </a:prstGeom>
          <a:solidFill>
            <a:srgbClr val="283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94944" y="1755648"/>
            <a:ext cx="6163056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>
                <a:solidFill>
                  <a:srgbClr val="000000"/>
                </a:solidFill>
                <a:latin typeface="Times New Roman"/>
                <a:ea typeface="楷体"/>
                <a:cs typeface="楷体"/>
              </a:rPr>
              <a:t>这是导语块：演示位置、字号、行距与浅底强调样式，文字内容为占位示意。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2715768"/>
            <a:ext cx="41148" cy="658368"/>
          </a:xfrm>
          <a:prstGeom prst="rect">
            <a:avLst/>
          </a:prstGeom>
          <a:solidFill>
            <a:srgbClr val="283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94944" y="2715768"/>
            <a:ext cx="6254496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>
                <a:solidFill>
                  <a:srgbClr val="000000"/>
                </a:solidFill>
                <a:latin typeface="Times New Roman"/>
                <a:ea typeface="宋体"/>
                <a:cs typeface="宋体"/>
              </a:rPr>
              <a:t>示例指标 A 达到 </a:t>
            </a:r>
            <a:r>
              <a:rPr sz="1800">
                <a:solidFill>
                  <a:srgbClr val="283E4E"/>
                </a:solidFill>
                <a:latin typeface="Arial"/>
                <a:ea typeface="黑体"/>
                <a:cs typeface="黑体"/>
              </a:rPr>
              <a:t>38.6</a:t>
            </a:r>
            <a:r>
              <a:rPr sz="1800">
                <a:solidFill>
                  <a:srgbClr val="000000"/>
                </a:solidFill>
                <a:latin typeface="Times New Roman"/>
                <a:ea typeface="宋体"/>
                <a:cs typeface="宋体"/>
              </a:rPr>
              <a:t>（占位数值）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3429000"/>
            <a:ext cx="41148" cy="658368"/>
          </a:xfrm>
          <a:prstGeom prst="rect">
            <a:avLst/>
          </a:prstGeom>
          <a:solidFill>
            <a:srgbClr val="283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94944" y="3429000"/>
            <a:ext cx="6254496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>
                <a:solidFill>
                  <a:srgbClr val="000000"/>
                </a:solidFill>
                <a:latin typeface="Times New Roman"/>
                <a:ea typeface="宋体"/>
                <a:cs typeface="宋体"/>
              </a:rPr>
              <a:t>示例指标 B 同比变化 </a:t>
            </a:r>
            <a:r>
              <a:rPr sz="1800">
                <a:solidFill>
                  <a:srgbClr val="283E4E"/>
                </a:solidFill>
                <a:latin typeface="Arial"/>
                <a:ea typeface="黑体"/>
                <a:cs typeface="黑体"/>
              </a:rPr>
              <a:t>+12.4</a:t>
            </a:r>
            <a:r>
              <a:rPr sz="1800">
                <a:solidFill>
                  <a:srgbClr val="000000"/>
                </a:solidFill>
                <a:latin typeface="Times New Roman"/>
                <a:ea typeface="宋体"/>
                <a:cs typeface="宋体"/>
              </a:rPr>
              <a:t>（占位数值）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4142232"/>
            <a:ext cx="41148" cy="658368"/>
          </a:xfrm>
          <a:prstGeom prst="rect">
            <a:avLst/>
          </a:prstGeom>
          <a:solidFill>
            <a:srgbClr val="283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94944" y="4142232"/>
            <a:ext cx="6254496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>
                <a:solidFill>
                  <a:srgbClr val="000000"/>
                </a:solidFill>
                <a:latin typeface="Times New Roman"/>
                <a:ea typeface="宋体"/>
                <a:cs typeface="宋体"/>
              </a:rPr>
              <a:t>示例指标 C 覆盖范围 </a:t>
            </a:r>
            <a:r>
              <a:rPr sz="1800">
                <a:solidFill>
                  <a:srgbClr val="283E4E"/>
                </a:solidFill>
                <a:latin typeface="Arial"/>
                <a:ea typeface="黑体"/>
                <a:cs typeface="黑体"/>
              </a:rPr>
              <a:t>1,200</a:t>
            </a:r>
            <a:r>
              <a:rPr sz="1800">
                <a:solidFill>
                  <a:srgbClr val="000000"/>
                </a:solidFill>
                <a:latin typeface="Times New Roman"/>
                <a:ea typeface="宋体"/>
                <a:cs typeface="宋体"/>
              </a:rPr>
              <a:t>（占位数值）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4892040"/>
            <a:ext cx="6492240" cy="1005840"/>
          </a:xfrm>
          <a:prstGeom prst="rect">
            <a:avLst/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02920" y="4892040"/>
            <a:ext cx="41148" cy="1005840"/>
          </a:xfrm>
          <a:prstGeom prst="rect">
            <a:avLst/>
          </a:prstGeom>
          <a:solidFill>
            <a:srgbClr val="283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94944" y="4983480"/>
            <a:ext cx="6163056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>
                <a:solidFill>
                  <a:srgbClr val="283E4E"/>
                </a:solidFill>
                <a:latin typeface="Arial"/>
                <a:ea typeface="黑体"/>
                <a:cs typeface="黑体"/>
              </a:rPr>
              <a:t>示例判断句：用一句话收束左侧信息，靠黑体与主题色强调，作为口头汇报的落点。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178040" y="1664208"/>
            <a:ext cx="5175504" cy="1481328"/>
          </a:xfrm>
          <a:prstGeom prst="rect">
            <a:avLst/>
          </a:prstGeom>
          <a:solidFill>
            <a:srgbClr val="F1F5F8"/>
          </a:solidFill>
          <a:ln w="9525">
            <a:solidFill>
              <a:srgbClr val="B7C1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178040" y="2212848"/>
            <a:ext cx="51755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>
                <a:solidFill>
                  <a:srgbClr val="000000"/>
                </a:solidFill>
                <a:latin typeface="Times New Roman"/>
                <a:ea typeface="宋体"/>
                <a:cs typeface="宋体"/>
              </a:rPr>
              <a:t>占位配图区域：实稿放实景照片，按框裁切填满。</a:t>
            </a:r>
          </a:p>
        </p:txBody>
      </p:sp>
      <p:sp>
        <p:nvSpPr>
          <p:cNvPr id="21" name="Oval 20"/>
          <p:cNvSpPr/>
          <p:nvPr/>
        </p:nvSpPr>
        <p:spPr>
          <a:xfrm>
            <a:off x="7178040" y="3310128"/>
            <a:ext cx="1572768" cy="1572768"/>
          </a:xfrm>
          <a:prstGeom prst="ellipse">
            <a:avLst/>
          </a:prstGeom>
          <a:solidFill>
            <a:srgbClr val="283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223760" y="3621024"/>
            <a:ext cx="1481328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600">
                <a:solidFill>
                  <a:srgbClr val="FFFFFF"/>
                </a:solidFill>
                <a:latin typeface="Arial"/>
                <a:ea typeface="黑体"/>
                <a:cs typeface="黑体"/>
              </a:rPr>
              <a:t>38.6%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69480" y="4315968"/>
            <a:ext cx="1389888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>
                <a:solidFill>
                  <a:srgbClr val="FFFFFF"/>
                </a:solidFill>
                <a:latin typeface="Times New Roman"/>
                <a:ea typeface="宋体"/>
                <a:cs typeface="宋体"/>
              </a:rPr>
              <a:t>占位数值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98280" y="3310128"/>
            <a:ext cx="32552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>
                <a:solidFill>
                  <a:srgbClr val="000000"/>
                </a:solidFill>
                <a:latin typeface="Times New Roman"/>
                <a:ea typeface="宋体"/>
                <a:cs typeface="宋体"/>
              </a:rPr>
              <a:t>对比图（示例）</a:t>
            </a:r>
          </a:p>
        </p:txBody>
      </p:sp>
      <p:graphicFrame>
        <p:nvGraphicFramePr>
          <p:cNvPr id="25" name="Chart 24"/>
          <p:cNvGraphicFramePr>
            <a:graphicFrameLocks noGrp="1"/>
          </p:cNvGraphicFramePr>
          <p:nvPr/>
        </p:nvGraphicFramePr>
        <p:xfrm>
          <a:off x="9098280" y="3602736"/>
          <a:ext cx="3255264" cy="21945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6" name="Rectangle 25"/>
          <p:cNvSpPr/>
          <p:nvPr/>
        </p:nvSpPr>
        <p:spPr>
          <a:xfrm>
            <a:off x="502920" y="6217920"/>
            <a:ext cx="41148" cy="566928"/>
          </a:xfrm>
          <a:prstGeom prst="rect">
            <a:avLst/>
          </a:prstGeom>
          <a:solidFill>
            <a:srgbClr val="283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94944" y="6217920"/>
            <a:ext cx="115214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>
                <a:solidFill>
                  <a:srgbClr val="000000"/>
                </a:solidFill>
                <a:latin typeface="Arial"/>
                <a:ea typeface="黑体"/>
                <a:cs typeface="黑体"/>
              </a:rPr>
              <a:t>示例结论条：用一句话写清证据强弱与边界，作为整页的落点。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852160" y="219456"/>
            <a:ext cx="5577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>
                <a:solidFill>
                  <a:srgbClr val="000000"/>
                </a:solidFill>
                <a:latin typeface="Times New Roman"/>
                <a:ea typeface="宋体"/>
                <a:cs typeface="宋体"/>
              </a:rPr>
              <a:t>示例 · 汇报页骨架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521440" y="219456"/>
            <a:ext cx="83210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>
                <a:solidFill>
                  <a:srgbClr val="283E4E"/>
                </a:solidFill>
                <a:latin typeface="Arial"/>
                <a:ea typeface="黑体"/>
                <a:cs typeface="黑体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30352"/>
            <a:ext cx="11850624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>
                <a:solidFill>
                  <a:srgbClr val="283E4E"/>
                </a:solidFill>
                <a:latin typeface="Arial"/>
                <a:ea typeface="黑体"/>
                <a:cs typeface="黑体"/>
              </a:rPr>
              <a:t>示例页：强数据内容用表格承载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52144"/>
            <a:ext cx="1185062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>
                <a:solidFill>
                  <a:srgbClr val="000000"/>
                </a:solidFill>
                <a:latin typeface="Times New Roman"/>
                <a:ea typeface="宋体"/>
                <a:cs typeface="宋体"/>
              </a:rPr>
              <a:t>指标对比、口径对照、多维数据用表格；叙事与机制内容用方块。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554480"/>
            <a:ext cx="11850624" cy="10972"/>
          </a:xfrm>
          <a:prstGeom prst="rect">
            <a:avLst/>
          </a:prstGeom>
          <a:solidFill>
            <a:srgbClr val="283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773936"/>
          <a:ext cx="11850624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920240"/>
                <a:gridCol w="1920240"/>
                <a:gridCol w="1920240"/>
                <a:gridCol w="3346704"/>
              </a:tblGrid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600">
                          <a:solidFill>
                            <a:srgbClr val="FFFFFF"/>
                          </a:solidFill>
                          <a:latin typeface="Arial"/>
                          <a:ea typeface="黑体"/>
                          <a:cs typeface="黑体"/>
                        </a:rPr>
                        <a:t>指标</a:t>
                      </a:r>
                    </a:p>
                  </a:txBody>
                  <a:tcPr marL="128016" marR="91440" marT="45720" marB="45720" anchor="ctr">
                    <a:solidFill>
                      <a:srgbClr val="283E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>
                          <a:solidFill>
                            <a:srgbClr val="FFFFFF"/>
                          </a:solidFill>
                          <a:latin typeface="Arial"/>
                          <a:ea typeface="黑体"/>
                          <a:cs typeface="黑体"/>
                        </a:rPr>
                        <a:t>2024</a:t>
                      </a:r>
                    </a:p>
                  </a:txBody>
                  <a:tcPr marL="128016" marR="91440" marT="45720" marB="45720" anchor="ctr">
                    <a:solidFill>
                      <a:srgbClr val="283E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>
                          <a:solidFill>
                            <a:srgbClr val="FFFFFF"/>
                          </a:solidFill>
                          <a:latin typeface="Arial"/>
                          <a:ea typeface="黑体"/>
                          <a:cs typeface="黑体"/>
                        </a:rPr>
                        <a:t>2025</a:t>
                      </a:r>
                    </a:p>
                  </a:txBody>
                  <a:tcPr marL="128016" marR="91440" marT="45720" marB="45720" anchor="ctr">
                    <a:solidFill>
                      <a:srgbClr val="283E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>
                          <a:solidFill>
                            <a:srgbClr val="FFFFFF"/>
                          </a:solidFill>
                          <a:latin typeface="Arial"/>
                          <a:ea typeface="黑体"/>
                          <a:cs typeface="黑体"/>
                        </a:rPr>
                        <a:t>变化</a:t>
                      </a:r>
                    </a:p>
                  </a:txBody>
                  <a:tcPr marL="128016" marR="91440" marT="45720" marB="45720" anchor="ctr">
                    <a:solidFill>
                      <a:srgbClr val="283E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>
                          <a:solidFill>
                            <a:srgbClr val="FFFFFF"/>
                          </a:solidFill>
                          <a:latin typeface="Arial"/>
                          <a:ea typeface="黑体"/>
                          <a:cs typeface="黑体"/>
                        </a:rPr>
                        <a:t>口径</a:t>
                      </a:r>
                    </a:p>
                  </a:txBody>
                  <a:tcPr marL="128016" marR="91440" marT="45720" marB="45720" anchor="ctr">
                    <a:solidFill>
                      <a:srgbClr val="283E4E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600">
                          <a:solidFill>
                            <a:srgbClr val="000000"/>
                          </a:solidFill>
                          <a:latin typeface="Times New Roman"/>
                          <a:ea typeface="宋体"/>
                          <a:cs typeface="宋体"/>
                        </a:rPr>
                        <a:t>指标甲</a:t>
                      </a:r>
                    </a:p>
                  </a:txBody>
                  <a:tcPr marL="128016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>
                          <a:solidFill>
                            <a:srgbClr val="283E4E"/>
                          </a:solidFill>
                          <a:latin typeface="Arial"/>
                          <a:ea typeface="黑体"/>
                          <a:cs typeface="黑体"/>
                        </a:rPr>
                        <a:t>1,180</a:t>
                      </a:r>
                    </a:p>
                  </a:txBody>
                  <a:tcPr marL="128016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>
                          <a:solidFill>
                            <a:srgbClr val="283E4E"/>
                          </a:solidFill>
                          <a:latin typeface="Arial"/>
                          <a:ea typeface="黑体"/>
                          <a:cs typeface="黑体"/>
                        </a:rPr>
                        <a:t>1,420</a:t>
                      </a:r>
                    </a:p>
                  </a:txBody>
                  <a:tcPr marL="128016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>
                          <a:solidFill>
                            <a:srgbClr val="283E4E"/>
                          </a:solidFill>
                          <a:latin typeface="Arial"/>
                          <a:ea typeface="黑体"/>
                          <a:cs typeface="黑体"/>
                        </a:rPr>
                        <a:t>+20.3%</a:t>
                      </a:r>
                    </a:p>
                  </a:txBody>
                  <a:tcPr marL="128016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>
                          <a:solidFill>
                            <a:srgbClr val="000000"/>
                          </a:solidFill>
                          <a:latin typeface="Times New Roman"/>
                          <a:ea typeface="宋体"/>
                          <a:cs typeface="宋体"/>
                        </a:rPr>
                        <a:t>示例口径</a:t>
                      </a:r>
                    </a:p>
                  </a:txBody>
                  <a:tcPr marL="128016" marR="91440" marT="45720" marB="45720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600">
                          <a:solidFill>
                            <a:srgbClr val="000000"/>
                          </a:solidFill>
                          <a:latin typeface="Times New Roman"/>
                          <a:ea typeface="宋体"/>
                          <a:cs typeface="宋体"/>
                        </a:rPr>
                        <a:t>指标乙</a:t>
                      </a:r>
                    </a:p>
                  </a:txBody>
                  <a:tcPr marL="128016" marR="91440" marT="45720" marB="45720" anchor="ctr">
                    <a:solidFill>
                      <a:srgbClr val="F1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>
                          <a:solidFill>
                            <a:srgbClr val="283E4E"/>
                          </a:solidFill>
                          <a:latin typeface="Arial"/>
                          <a:ea typeface="黑体"/>
                          <a:cs typeface="黑体"/>
                        </a:rPr>
                        <a:t>62.1</a:t>
                      </a:r>
                    </a:p>
                  </a:txBody>
                  <a:tcPr marL="128016" marR="91440" marT="45720" marB="45720" anchor="ctr">
                    <a:solidFill>
                      <a:srgbClr val="F1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>
                          <a:solidFill>
                            <a:srgbClr val="283E4E"/>
                          </a:solidFill>
                          <a:latin typeface="Arial"/>
                          <a:ea typeface="黑体"/>
                          <a:cs typeface="黑体"/>
                        </a:rPr>
                        <a:t>58.4</a:t>
                      </a:r>
                    </a:p>
                  </a:txBody>
                  <a:tcPr marL="128016" marR="91440" marT="45720" marB="45720" anchor="ctr">
                    <a:solidFill>
                      <a:srgbClr val="F1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>
                          <a:solidFill>
                            <a:srgbClr val="283E4E"/>
                          </a:solidFill>
                          <a:latin typeface="Arial"/>
                          <a:ea typeface="黑体"/>
                          <a:cs typeface="黑体"/>
                        </a:rPr>
                        <a:t>-3.7</a:t>
                      </a:r>
                    </a:p>
                  </a:txBody>
                  <a:tcPr marL="128016" marR="91440" marT="45720" marB="45720" anchor="ctr">
                    <a:solidFill>
                      <a:srgbClr val="F1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>
                          <a:solidFill>
                            <a:srgbClr val="000000"/>
                          </a:solidFill>
                          <a:latin typeface="Times New Roman"/>
                          <a:ea typeface="宋体"/>
                          <a:cs typeface="宋体"/>
                        </a:rPr>
                        <a:t>示例口径</a:t>
                      </a:r>
                    </a:p>
                  </a:txBody>
                  <a:tcPr marL="128016" marR="91440" marT="45720" marB="45720" anchor="ctr">
                    <a:solidFill>
                      <a:srgbClr val="F1F5F8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600">
                          <a:solidFill>
                            <a:srgbClr val="000000"/>
                          </a:solidFill>
                          <a:latin typeface="Times New Roman"/>
                          <a:ea typeface="宋体"/>
                          <a:cs typeface="宋体"/>
                        </a:rPr>
                        <a:t>指标丙</a:t>
                      </a:r>
                    </a:p>
                  </a:txBody>
                  <a:tcPr marL="128016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>
                          <a:solidFill>
                            <a:srgbClr val="283E4E"/>
                          </a:solidFill>
                          <a:latin typeface="Arial"/>
                          <a:ea typeface="黑体"/>
                          <a:cs typeface="黑体"/>
                        </a:rPr>
                        <a:t>340</a:t>
                      </a:r>
                    </a:p>
                  </a:txBody>
                  <a:tcPr marL="128016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>
                          <a:solidFill>
                            <a:srgbClr val="283E4E"/>
                          </a:solidFill>
                          <a:latin typeface="Arial"/>
                          <a:ea typeface="黑体"/>
                          <a:cs typeface="黑体"/>
                        </a:rPr>
                        <a:t>512</a:t>
                      </a:r>
                    </a:p>
                  </a:txBody>
                  <a:tcPr marL="128016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>
                          <a:solidFill>
                            <a:srgbClr val="283E4E"/>
                          </a:solidFill>
                          <a:latin typeface="Arial"/>
                          <a:ea typeface="黑体"/>
                          <a:cs typeface="黑体"/>
                        </a:rPr>
                        <a:t>+50.6%</a:t>
                      </a:r>
                    </a:p>
                  </a:txBody>
                  <a:tcPr marL="128016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>
                          <a:solidFill>
                            <a:srgbClr val="000000"/>
                          </a:solidFill>
                          <a:latin typeface="Times New Roman"/>
                          <a:ea typeface="宋体"/>
                          <a:cs typeface="宋体"/>
                        </a:rPr>
                        <a:t>示例口径</a:t>
                      </a:r>
                    </a:p>
                  </a:txBody>
                  <a:tcPr marL="128016" marR="91440" marT="45720" marB="45720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600">
                          <a:solidFill>
                            <a:srgbClr val="000000"/>
                          </a:solidFill>
                          <a:latin typeface="Times New Roman"/>
                          <a:ea typeface="宋体"/>
                          <a:cs typeface="宋体"/>
                        </a:rPr>
                        <a:t>指标丁</a:t>
                      </a:r>
                    </a:p>
                  </a:txBody>
                  <a:tcPr marL="128016" marR="91440" marT="45720" marB="45720" anchor="ctr">
                    <a:solidFill>
                      <a:srgbClr val="F1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>
                          <a:solidFill>
                            <a:srgbClr val="283E4E"/>
                          </a:solidFill>
                          <a:latin typeface="Arial"/>
                          <a:ea typeface="黑体"/>
                          <a:cs typeface="黑体"/>
                        </a:rPr>
                        <a:t>9.6</a:t>
                      </a:r>
                    </a:p>
                  </a:txBody>
                  <a:tcPr marL="128016" marR="91440" marT="45720" marB="45720" anchor="ctr">
                    <a:solidFill>
                      <a:srgbClr val="F1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>
                          <a:solidFill>
                            <a:srgbClr val="283E4E"/>
                          </a:solidFill>
                          <a:latin typeface="Arial"/>
                          <a:ea typeface="黑体"/>
                          <a:cs typeface="黑体"/>
                        </a:rPr>
                        <a:t>12.8</a:t>
                      </a:r>
                    </a:p>
                  </a:txBody>
                  <a:tcPr marL="128016" marR="91440" marT="45720" marB="45720" anchor="ctr">
                    <a:solidFill>
                      <a:srgbClr val="F1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>
                          <a:solidFill>
                            <a:srgbClr val="283E4E"/>
                          </a:solidFill>
                          <a:latin typeface="Arial"/>
                          <a:ea typeface="黑体"/>
                          <a:cs typeface="黑体"/>
                        </a:rPr>
                        <a:t>+33.3%</a:t>
                      </a:r>
                    </a:p>
                  </a:txBody>
                  <a:tcPr marL="128016" marR="91440" marT="45720" marB="45720" anchor="ctr">
                    <a:solidFill>
                      <a:srgbClr val="F1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>
                          <a:solidFill>
                            <a:srgbClr val="000000"/>
                          </a:solidFill>
                          <a:latin typeface="Times New Roman"/>
                          <a:ea typeface="宋体"/>
                          <a:cs typeface="宋体"/>
                        </a:rPr>
                        <a:t>示例口径</a:t>
                      </a:r>
                    </a:p>
                  </a:txBody>
                  <a:tcPr marL="128016" marR="91440" marT="45720" marB="45720" anchor="ctr">
                    <a:solidFill>
                      <a:srgbClr val="F1F5F8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502920" y="5120640"/>
            <a:ext cx="41148" cy="822960"/>
          </a:xfrm>
          <a:prstGeom prst="rect">
            <a:avLst/>
          </a:prstGeom>
          <a:solidFill>
            <a:srgbClr val="283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94944" y="5120640"/>
            <a:ext cx="115214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>
                <a:solidFill>
                  <a:srgbClr val="000000"/>
                </a:solidFill>
                <a:latin typeface="Times New Roman"/>
                <a:ea typeface="宋体"/>
                <a:cs typeface="宋体"/>
              </a:rPr>
              <a:t>表格页同样遵守字阶与三色限制：表头黑体白字，数值列主题色，正文宋体黑色，单元格一律 16pt 起。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