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858750" cy="72326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</c:v>
                </c:pt>
              </c:strCache>
            </c:strRef>
          </c:tx>
          <c:spPr>
            <a:solidFill>
              <a:srgbClr val="4A6577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甲</c:v>
                </c:pt>
                <c:pt idx="1">
                  <c:v>乙</c:v>
                </c:pt>
                <c:pt idx="2">
                  <c:v>丙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45</c:v>
                </c:pt>
                <c:pt idx="2">
                  <c:v>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600" b="1">
                  <a:solidFill>
                    <a:srgbClr val="283E4E"/>
                  </a:solidFill>
                  <a:latin typeface="Arial"/>
                  <a:ea typeface="宋体"/>
                  <a:cs typeface="宋体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12700">
            <a:solidFill>
              <a:srgbClr val="283E4E"/>
            </a:solidFill>
          </a:ln>
        </c:spPr>
        <c:txPr>
          <a:bodyPr/>
          <a:lstStyle/>
          <a:p>
            <a:pPr>
              <a:defRPr sz="1600">
                <a:solidFill>
                  <a:srgbClr val="000000"/>
                </a:solidFill>
                <a:latin typeface="Arial"/>
                <a:ea typeface="宋体"/>
                <a:cs typeface="宋体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1"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600">
          <a:solidFill>
            <a:srgbClr val="000000"/>
          </a:solidFill>
          <a:latin typeface="Arial"/>
          <a:ea typeface="宋体"/>
          <a:cs typeface="宋体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【封面 · 示例备注】本页只演示版式：大标题、副标题与必要的标识位置，不承载结论。讲解时用十秒交代主题与场合，不需要把目录念一遍。真实项目里单位、姓名、日期放在固定位置，字号不小于 16pt；来源、口径和备答一律写进备注，不上片。封面不强制写长讲稿，按实际讲解需要写。【封面 · 示例备注】本页只演示版式：大标题、副标题与必要的标识位置，不承载结论。讲解时用十秒交代主题与场合，不需要把目录念一遍。真实项目里单位、姓名、日期放在固定位置，字号不小于 16pt；来源、口径和备答一律写进备注，不上片。封面不强制写长讲稿，按实际讲解需要写。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【主图+侧栏示例 · 备注】本页只是版式示例，所有数值都是虚构占位数据，不要当作真实结论引用。讲解节奏：先用一句话说明这一页回答什么问题；再逐条讲三条实证，每条都是指标名、数值、口径写在同一句里；然后用一句判断收束。右栏的图片是实景位，图表是数据位，两者各承担一件事，不要互相替代。如果换成真实数据，来源、统计口径和发布时间一律写进备注。【主图+侧栏示例 · 备注】本页只是版式示例，所有数值都是虚构占位数据，不要当作真实结论引用。讲解节奏：先用一句话说明这一页回答什么问题；再逐条讲三条实证，每条都是指标名、数值、口径写在同一句里；然后用一句判断收束。右栏的图片是实景位，图表是数据位，两者各承担一件事，不要互相替代。如果换成真实数据，来源、统计口径和发布时间一律写进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【表格示例 · 备注】本页演示强数据用表格：表头用主题色底白字，数值列用主题色，正文黑色，交替行加浅底，重点行用辅助色浅底标示。讲的时候不要逐格念表，先说这张表回答什么问题、结论是什么，再点两三个关键数字的变化。如果表格承担逐项核对，就把口径与来源写进备注，必要时补一句数据截止月份。【表格示例 · 备注】本页演示强数据用表格：表头用主题色底白字，数值列用主题色，正文黑色，交替行加浅底，重点行用辅助色浅底标示。讲的时候不要逐格念表，先说这张表回答什么问题、结论是什么，再点两三个关键数字的变化。如果表格承担逐项核对，就把口径与来源写进备注，必要时补一句数据截止月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【对比页 · 备注】左右双栏适合两组并列信息，中缝的平行四边形是关系标记，不是装饰。讲解时先给对照的标准，再逐条比，最后落到一句判断。对比页不要用箭头硬造因果关系，因果关系应该放到流程页或因果图里。【对比页 · 备注】左右双栏适合两组并列信息，中缝的平行四边形是关系标记，不是装饰。讲解时先给对照的标准，再逐条比，最后落到一句判断。对比页不要用箭头硬造因果关系，因果关系应该放到流程页或因果图里。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【流程页 · 备注】本页演示流程关系：箭头形表达先后顺序，圆形序号标记步骤，上导语下结论形成闭环。讲的时候按步骤顺序走，每一步只说一件事，最后用结论句收束。如果步骤超过五步，先考虑拆成两页，不要靠缩小字号硬塞。【流程页 · 备注】本页演示流程关系：箭头形表达先后顺序，圆形序号标记步骤，上导语下结论形成闭环。讲的时候按步骤顺序走，每一步只说一件事，最后用结论句收束。如果步骤超过五步，先考虑拆成两页，不要靠缩小字号硬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【时间线页 · 备注】时间关系用一条主轴表达，节点在上、说明在下，视觉上能看出先后。讲的时候只强调真正改变方向的两三个事件，其余可以一句带过。时间线不要用来堆日常进度，那样等于把待办清单搬上大屏。【时间线页 · 备注】时间关系用一条主轴表达，节点在上、说明在下，视觉上能看出先后。讲的时候只强调真正改变方向的两三个事件，其余可以一句带过。时间线不要用来堆日常进度，那样等于把待办清单搬上大屏。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【层级页 · 备注】层级关系用宽度变化表达：越往上越概括，越往下越具体。讲的时候先给上层结论，再往下拆，最后落到具体实证。同级信息保持同宽同高，不要用字号大小暗示层级，否则读者会先去猜哪个更重要。【层级页 · 备注】层级关系用宽度变化表达：越往上越概括，越往下越具体。讲的时候先给上层结论，再往下拆，最后落到具体实证。同级信息保持同宽同高，不要用字号大小暗示层级，否则读者会先去猜哪个更重要。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【循环页 · 备注】闭环、迭代、聚合关系用中心圆加周边节点表达。讲的时候先给中心概念的准确定义，再说明每个节点做什么，最后点出回路的价值：回到起点时标准或能力已经变化。如果四个节点之间其实是先后关系，应该改成流程页或时间线，而不是画成闭环。【循环页 · 备注】闭环、迭代、聚合关系用中心圆加周边节点表达。讲的时候先给中心概念的准确定义，再说明每个节点做什么，最后点出回路的价值：回到起点时标准或能力已经变化。如果四个节点之间其实是先后关系，应该改成流程页或时间线，而不是画成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【纯文字页 · 备注】这一页演示纯文字页的合规做法：允许不加图形和配图，但必须有字号层级、留白和对齐。讲的时候放慢语速，把这句判断说完整，不要急着翻页。整套演示里纯文字页占比建议不超过两成，超出就说明多数页面没有把关系画出来。【纯文字页 · 备注】这一页演示纯文字页的合规做法：允许不加图形和配图，但必须有字号层级、留白和对齐。讲的时候放慢语速，把这句判断说完整，不要急着翻页。整套演示里纯文字页占比建议不超过两成，超出就说明多数页面没有把关系画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188720"/>
            <a:ext cx="41148" cy="1325880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示例演示：把内容关系画对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1247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副标题占位：这是一份纯占位数据的版式示例，不含任何真实结论。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1247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4A6577"/>
                </a:solidFill>
                <a:latin typeface="Times New Roman"/>
                <a:ea typeface="宋体"/>
                <a:cs typeface="宋体"/>
              </a:rPr>
              <a:t>示例单位 · 示例作者 · 示例日期</a:t>
            </a:r>
          </a:p>
        </p:txBody>
      </p:sp>
      <p:pic>
        <p:nvPicPr>
          <p:cNvPr id="6" name="Picture 5" descr="placeholder-photo.png"/>
          <p:cNvPicPr>
            <a:picLocks noChangeAspect="1"/>
          </p:cNvPicPr>
          <p:nvPr/>
        </p:nvPicPr>
        <p:blipFill>
          <a:blip r:embed="rId2"/>
          <a:srcRect t="2688" b="2688"/>
          <a:stretch>
            <a:fillRect/>
          </a:stretch>
        </p:blipFill>
        <p:spPr>
          <a:xfrm>
            <a:off x="502920" y="3108960"/>
            <a:ext cx="5669280" cy="3017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46520" y="3108960"/>
            <a:ext cx="5907024" cy="301752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46520" y="3108960"/>
            <a:ext cx="41148" cy="3017520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75120" y="3291840"/>
            <a:ext cx="5449824" cy="2651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>
                <a:solidFill>
                  <a:srgbClr val="000000"/>
                </a:solidFill>
                <a:latin typeface="Times New Roman"/>
                <a:ea typeface="楷体"/>
                <a:cs typeface="楷体"/>
              </a:rPr>
              <a:t>本示例演示新的配色与版式规则：黑白灰作基础色，不占配色额度；主题色、对比色、辅助色各成系列。每页先判断内容关系，再选骨架，不再把页面全做成方块。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0" y="219456"/>
            <a:ext cx="5577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 · 汇报页骨架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21440" y="219456"/>
            <a:ext cx="8321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850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示例页：主图 + 侧栏，配图与图表各承担一件事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8506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左栏讲证据，右栏放实景图、图表与关键数字；对比色只点最关键的一个数字。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1850624" cy="10972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6492240" cy="96012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41148" cy="960120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755648"/>
            <a:ext cx="616305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>
                <a:solidFill>
                  <a:srgbClr val="000000"/>
                </a:solidFill>
                <a:latin typeface="Times New Roman"/>
                <a:ea typeface="楷体"/>
                <a:cs typeface="楷体"/>
              </a:rPr>
              <a:t>导语占位：这一页演示左文右图的骨架，文字区与图片区各自成块，边缘对齐。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715768"/>
            <a:ext cx="41148" cy="658368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94944" y="2715768"/>
            <a:ext cx="62544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示例指标 A 达到 </a:t>
            </a: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38.6</a:t>
            </a: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（占位数值）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429000"/>
            <a:ext cx="41148" cy="658368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3429000"/>
            <a:ext cx="62544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示例指标 B 同比变化 </a:t>
            </a: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+12.4</a:t>
            </a: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（占位数值）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142232"/>
            <a:ext cx="41148" cy="658368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4142232"/>
            <a:ext cx="62544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示例指标 C 覆盖范围 </a:t>
            </a: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1,200</a:t>
            </a: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（占位数值）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892040"/>
            <a:ext cx="6492240" cy="100584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02920" y="4892040"/>
            <a:ext cx="41148" cy="1005840"/>
          </a:xfrm>
          <a:prstGeom prst="rect">
            <a:avLst/>
          </a:prstGeom>
          <a:solidFill>
            <a:srgbClr val="8C5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4944" y="4983480"/>
            <a:ext cx="616305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核心判断占位：用一句话收束左侧证据。对比色只承担一个重点，不做大面积铺色。</a:t>
            </a:r>
          </a:p>
        </p:txBody>
      </p:sp>
      <p:pic>
        <p:nvPicPr>
          <p:cNvPr id="19" name="Picture 18" descr="placeholder-photo.png"/>
          <p:cNvPicPr>
            <a:picLocks noChangeAspect="1"/>
          </p:cNvPicPr>
          <p:nvPr/>
        </p:nvPicPr>
        <p:blipFill>
          <a:blip r:embed="rId2"/>
          <a:srcRect t="24558" b="24558"/>
          <a:stretch>
            <a:fillRect/>
          </a:stretch>
        </p:blipFill>
        <p:spPr>
          <a:xfrm>
            <a:off x="7178040" y="1664208"/>
            <a:ext cx="5175504" cy="1481328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7178040" y="3310128"/>
            <a:ext cx="1572768" cy="1572768"/>
          </a:xfrm>
          <a:prstGeom prst="ellipse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223760" y="3639312"/>
            <a:ext cx="148132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>
                <a:solidFill>
                  <a:srgbClr val="FFFFFF"/>
                </a:solidFill>
                <a:latin typeface="Arial"/>
                <a:ea typeface="黑体"/>
                <a:cs typeface="黑体"/>
              </a:rPr>
              <a:t>38.6%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352544"/>
            <a:ext cx="13898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占位数值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98280" y="3310128"/>
            <a:ext cx="3255264" cy="402336"/>
          </a:xfrm>
          <a:prstGeom prst="rect">
            <a:avLst/>
          </a:prstGeom>
          <a:solidFill>
            <a:srgbClr val="E0B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35440" y="3383280"/>
            <a:ext cx="2980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142129"/>
                </a:solidFill>
                <a:latin typeface="Arial"/>
                <a:ea typeface="黑体"/>
                <a:cs typeface="黑体"/>
              </a:rPr>
              <a:t>关键提示：对比色只点一个重点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9098280" y="3877056"/>
          <a:ext cx="3255264" cy="1920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0" y="219456"/>
            <a:ext cx="5577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 · 汇报页骨架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21440" y="219456"/>
            <a:ext cx="8321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850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示例页：强数据内容用表格承载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8506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指标对比、口径对照、多维数据用表格；叙事与机制内容才用方块。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1850624" cy="10972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73936"/>
          <a:ext cx="1185062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920240"/>
                <a:gridCol w="1920240"/>
                <a:gridCol w="1920240"/>
                <a:gridCol w="3346704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Arial"/>
                          <a:ea typeface="黑体"/>
                          <a:cs typeface="黑体"/>
                        </a:rPr>
                        <a:t>指标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Arial"/>
                          <a:ea typeface="黑体"/>
                          <a:cs typeface="黑体"/>
                        </a:rPr>
                        <a:t>2024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Arial"/>
                          <a:ea typeface="黑体"/>
                          <a:cs typeface="黑体"/>
                        </a:rPr>
                        <a:t>2025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Arial"/>
                          <a:ea typeface="黑体"/>
                          <a:cs typeface="黑体"/>
                        </a:rPr>
                        <a:t>变化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Arial"/>
                          <a:ea typeface="黑体"/>
                          <a:cs typeface="黑体"/>
                        </a:rPr>
                        <a:t>口径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宋体"/>
                          <a:cs typeface="宋体"/>
                        </a:rPr>
                        <a:t>指标甲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1,180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1,420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+20.3%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宋体"/>
                          <a:cs typeface="宋体"/>
                        </a:rPr>
                        <a:t>示例口径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宋体"/>
                          <a:cs typeface="宋体"/>
                        </a:rPr>
                        <a:t>指标乙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62.1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58.4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-3.7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宋体"/>
                          <a:cs typeface="宋体"/>
                        </a:rPr>
                        <a:t>示例口径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宋体"/>
                          <a:cs typeface="宋体"/>
                        </a:rPr>
                        <a:t>指标丙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340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512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+50.6%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宋体"/>
                          <a:cs typeface="宋体"/>
                        </a:rPr>
                        <a:t>示例口径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宋体"/>
                          <a:cs typeface="宋体"/>
                        </a:rPr>
                        <a:t>指标丁</a:t>
                      </a:r>
                    </a:p>
                  </a:txBody>
                  <a:tcPr marL="128016" marR="91440" marT="45720" marB="45720" anchor="ctr">
                    <a:solidFill>
                      <a:srgbClr val="D6E5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9.6</a:t>
                      </a:r>
                    </a:p>
                  </a:txBody>
                  <a:tcPr marL="128016" marR="91440" marT="45720" marB="45720" anchor="ctr">
                    <a:solidFill>
                      <a:srgbClr val="D6E5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12.8</a:t>
                      </a:r>
                    </a:p>
                  </a:txBody>
                  <a:tcPr marL="128016" marR="91440" marT="45720" marB="45720" anchor="ctr">
                    <a:solidFill>
                      <a:srgbClr val="D6E5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+33.3%</a:t>
                      </a:r>
                    </a:p>
                  </a:txBody>
                  <a:tcPr marL="128016" marR="91440" marT="45720" marB="45720" anchor="ctr">
                    <a:solidFill>
                      <a:srgbClr val="D6E5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宋体"/>
                          <a:cs typeface="宋体"/>
                        </a:rPr>
                        <a:t>示例口径</a:t>
                      </a:r>
                    </a:p>
                  </a:txBody>
                  <a:tcPr marL="128016" marR="91440" marT="45720" marB="45720" anchor="ctr">
                    <a:solidFill>
                      <a:srgbClr val="D6E5E1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5120640"/>
            <a:ext cx="41148" cy="822960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5120640"/>
            <a:ext cx="11521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示例结论：指标甲、丙、丁增长、指标乙回落。末行用辅助色浅底标示重点行，面积控制在两成以内。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0" y="219456"/>
            <a:ext cx="5577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 · 汇报页骨架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21440" y="219456"/>
            <a:ext cx="8321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850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示例页：对比关系用左右双栏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8506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两组并列信息用双栏对照，不用箭头堆叠；差异用一条中缝和标签区分。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1850624" cy="10972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700784"/>
            <a:ext cx="5532120" cy="3931920"/>
          </a:xfrm>
          <a:prstGeom prst="rect">
            <a:avLst/>
          </a:prstGeom>
          <a:solidFill>
            <a:srgbClr val="F1F5F8"/>
          </a:solidFill>
          <a:ln w="9525">
            <a:solidFill>
              <a:srgbClr val="B7C1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291072" y="1700784"/>
            <a:ext cx="553212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B7C1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86537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左侧：原有做法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86537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右侧：调整后做法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条目占位一：把机制写清楚，不写口号。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2724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条目占位二：数字与口径写在同一句。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856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条目占位三：来源进备注，不上片。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246888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条目占位一：结构先行，先改大纲再改页面。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312724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条目占位二：版面留白，不填死下缘。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37856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条目占位三：对比色只点一个重点。</a:t>
            </a:r>
          </a:p>
        </p:txBody>
      </p:sp>
      <p:sp>
        <p:nvSpPr>
          <p:cNvPr id="17" name="Parallelogram 16"/>
          <p:cNvSpPr/>
          <p:nvPr/>
        </p:nvSpPr>
        <p:spPr>
          <a:xfrm>
            <a:off x="6053328" y="1920240"/>
            <a:ext cx="219456" cy="457200"/>
          </a:xfrm>
          <a:prstGeom prst="parallelogram">
            <a:avLst/>
          </a:prstGeom>
          <a:solidFill>
            <a:srgbClr val="E0B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4983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8C5A16"/>
                </a:solidFill>
                <a:latin typeface="Arial"/>
                <a:ea typeface="黑体"/>
                <a:cs typeface="黑体"/>
              </a:rPr>
              <a:t>判断占位：机制可以借鉴，前提不能照搬。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4828032"/>
            <a:ext cx="4983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判断占位：先立自己的能力，再谈开放。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0" y="219456"/>
            <a:ext cx="5577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 · 汇报页骨架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21440" y="219456"/>
            <a:ext cx="8321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850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示例页：流程关系用形状序列表达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8506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主视觉形状按语义选择：流程用箭头形与圆形节点，不用一排方块。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1850624" cy="10972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850624" cy="786384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94944" y="1773936"/>
            <a:ext cx="1146657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>
                <a:solidFill>
                  <a:srgbClr val="000000"/>
                </a:solidFill>
                <a:latin typeface="Times New Roman"/>
                <a:ea typeface="楷体"/>
                <a:cs typeface="楷体"/>
              </a:rPr>
              <a:t>导语占位：这一页演示流程关系。四个步骤用箭头形表达先后，序号用圆形节点标注。</a:t>
            </a:r>
          </a:p>
        </p:txBody>
      </p:sp>
      <p:sp>
        <p:nvSpPr>
          <p:cNvPr id="9" name="Chevron 8"/>
          <p:cNvSpPr/>
          <p:nvPr/>
        </p:nvSpPr>
        <p:spPr>
          <a:xfrm>
            <a:off x="685800" y="2880360"/>
            <a:ext cx="2331720" cy="1188720"/>
          </a:xfrm>
          <a:prstGeom prst="chevron">
            <a:avLst/>
          </a:prstGeom>
          <a:solidFill>
            <a:srgbClr val="FFFFFF"/>
          </a:solidFill>
          <a:ln w="9525">
            <a:solidFill>
              <a:srgbClr val="4A6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17830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抽取材料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3438144"/>
            <a:ext cx="187451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从材料与来源文件取数</a:t>
            </a:r>
          </a:p>
        </p:txBody>
      </p:sp>
      <p:sp>
        <p:nvSpPr>
          <p:cNvPr id="12" name="Oval 11"/>
          <p:cNvSpPr/>
          <p:nvPr/>
        </p:nvSpPr>
        <p:spPr>
          <a:xfrm>
            <a:off x="905256" y="2286000"/>
            <a:ext cx="566928" cy="566928"/>
          </a:xfrm>
          <a:prstGeom prst="ellipse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05256" y="22860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FFFFFF"/>
                </a:solidFill>
                <a:latin typeface="Arial"/>
                <a:ea typeface="黑体"/>
                <a:cs typeface="黑体"/>
              </a:rPr>
              <a:t>1</a:t>
            </a:r>
          </a:p>
        </p:txBody>
      </p:sp>
      <p:sp>
        <p:nvSpPr>
          <p:cNvPr id="14" name="Chevron 13"/>
          <p:cNvSpPr/>
          <p:nvPr/>
        </p:nvSpPr>
        <p:spPr>
          <a:xfrm>
            <a:off x="3566160" y="2880360"/>
            <a:ext cx="2331720" cy="1188720"/>
          </a:xfrm>
          <a:prstGeom prst="chevron">
            <a:avLst/>
          </a:prstGeom>
          <a:solidFill>
            <a:srgbClr val="FFFFFF"/>
          </a:solidFill>
          <a:ln w="9525">
            <a:solidFill>
              <a:srgbClr val="4A6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931920" y="3035808"/>
            <a:ext cx="17830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写一页纸大纲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056" y="3438144"/>
            <a:ext cx="187451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每页一句核心判断</a:t>
            </a:r>
          </a:p>
        </p:txBody>
      </p:sp>
      <p:sp>
        <p:nvSpPr>
          <p:cNvPr id="17" name="Oval 16"/>
          <p:cNvSpPr/>
          <p:nvPr/>
        </p:nvSpPr>
        <p:spPr>
          <a:xfrm>
            <a:off x="3785615" y="2286000"/>
            <a:ext cx="566928" cy="566928"/>
          </a:xfrm>
          <a:prstGeom prst="ellipse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785615" y="22860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FFFFFF"/>
                </a:solidFill>
                <a:latin typeface="Arial"/>
                <a:ea typeface="黑体"/>
                <a:cs typeface="黑体"/>
              </a:rPr>
              <a:t>2</a:t>
            </a:r>
          </a:p>
        </p:txBody>
      </p:sp>
      <p:sp>
        <p:nvSpPr>
          <p:cNvPr id="19" name="Chevron 18"/>
          <p:cNvSpPr/>
          <p:nvPr/>
        </p:nvSpPr>
        <p:spPr>
          <a:xfrm>
            <a:off x="6446520" y="2880360"/>
            <a:ext cx="2331720" cy="1188720"/>
          </a:xfrm>
          <a:prstGeom prst="chevron">
            <a:avLst/>
          </a:prstGeom>
          <a:solidFill>
            <a:srgbClr val="FFFFFF"/>
          </a:solidFill>
          <a:ln w="9525">
            <a:solidFill>
              <a:srgbClr val="4A6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12280" y="3035808"/>
            <a:ext cx="17830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生成页面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7416" y="3438144"/>
            <a:ext cx="187451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骨架与形状按关系选</a:t>
            </a:r>
          </a:p>
        </p:txBody>
      </p:sp>
      <p:sp>
        <p:nvSpPr>
          <p:cNvPr id="22" name="Oval 21"/>
          <p:cNvSpPr/>
          <p:nvPr/>
        </p:nvSpPr>
        <p:spPr>
          <a:xfrm>
            <a:off x="6665976" y="2286000"/>
            <a:ext cx="566928" cy="566928"/>
          </a:xfrm>
          <a:prstGeom prst="ellipse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65976" y="22860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FFFFFF"/>
                </a:solidFill>
                <a:latin typeface="Arial"/>
                <a:ea typeface="黑体"/>
                <a:cs typeface="黑体"/>
              </a:rPr>
              <a:t>3</a:t>
            </a:r>
          </a:p>
        </p:txBody>
      </p:sp>
      <p:sp>
        <p:nvSpPr>
          <p:cNvPr id="24" name="Chevron 23"/>
          <p:cNvSpPr/>
          <p:nvPr/>
        </p:nvSpPr>
        <p:spPr>
          <a:xfrm>
            <a:off x="9326880" y="2880360"/>
            <a:ext cx="2331720" cy="1188720"/>
          </a:xfrm>
          <a:prstGeom prst="chevron">
            <a:avLst/>
          </a:prstGeom>
          <a:solidFill>
            <a:srgbClr val="FFFFFF"/>
          </a:solidFill>
          <a:ln w="9525">
            <a:solidFill>
              <a:srgbClr val="4A6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0" y="3035808"/>
            <a:ext cx="17830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机器检查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37776" y="3438144"/>
            <a:ext cx="187451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结构、配色、预览三道</a:t>
            </a:r>
          </a:p>
        </p:txBody>
      </p:sp>
      <p:sp>
        <p:nvSpPr>
          <p:cNvPr id="27" name="Oval 26"/>
          <p:cNvSpPr/>
          <p:nvPr/>
        </p:nvSpPr>
        <p:spPr>
          <a:xfrm>
            <a:off x="9546336" y="2286000"/>
            <a:ext cx="566928" cy="566928"/>
          </a:xfrm>
          <a:prstGeom prst="ellipse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546336" y="22860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FFFFFF"/>
                </a:solidFill>
                <a:latin typeface="Arial"/>
                <a:ea typeface="黑体"/>
                <a:cs typeface="黑体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846320"/>
            <a:ext cx="11850624" cy="100584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02920" y="4846320"/>
            <a:ext cx="41148" cy="1005840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94944" y="4937760"/>
            <a:ext cx="1146657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结论占位：结构变化先改大纲再改页面，这是返工最少的一种改法。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0" y="219456"/>
            <a:ext cx="5577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 · 汇报页骨架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21440" y="219456"/>
            <a:ext cx="8321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850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示例页：时间关系用一条轴表达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8506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时间线用一条主轴加节点，年份在上、说明在下；不排成一列方块。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1850624" cy="10972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850624" cy="658368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94944" y="1755648"/>
            <a:ext cx="1146657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>
                <a:solidFill>
                  <a:srgbClr val="000000"/>
                </a:solidFill>
                <a:latin typeface="Times New Roman"/>
                <a:ea typeface="楷体"/>
                <a:cs typeface="楷体"/>
              </a:rPr>
              <a:t>导语占位：这一页演示时间线骨架，主轴贯穿全宽，四个节点分别落在轴上。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450592"/>
            <a:ext cx="11850624" cy="219456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3401568"/>
            <a:ext cx="11247120" cy="41148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271016" y="3163824"/>
            <a:ext cx="475488" cy="475488"/>
          </a:xfrm>
          <a:prstGeom prst="ellipse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71016" y="316382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FFFFFF"/>
                </a:solidFill>
                <a:latin typeface="Arial"/>
                <a:ea typeface="黑体"/>
                <a:cs typeface="黑体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706624"/>
            <a:ext cx="17373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示例年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730752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起点：材料与目标对齐</a:t>
            </a:r>
          </a:p>
        </p:txBody>
      </p:sp>
      <p:sp>
        <p:nvSpPr>
          <p:cNvPr id="15" name="Oval 14"/>
          <p:cNvSpPr/>
          <p:nvPr/>
        </p:nvSpPr>
        <p:spPr>
          <a:xfrm>
            <a:off x="4087368" y="3163824"/>
            <a:ext cx="475488" cy="475488"/>
          </a:xfrm>
          <a:prstGeom prst="ellipse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087368" y="316382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FFFFFF"/>
                </a:solidFill>
                <a:latin typeface="Arial"/>
                <a:ea typeface="黑体"/>
                <a:cs typeface="黑体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2706624"/>
            <a:ext cx="17373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示例年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3730752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阶段：结构与方法定稿</a:t>
            </a:r>
          </a:p>
        </p:txBody>
      </p:sp>
      <p:sp>
        <p:nvSpPr>
          <p:cNvPr id="19" name="Oval 18"/>
          <p:cNvSpPr/>
          <p:nvPr/>
        </p:nvSpPr>
        <p:spPr>
          <a:xfrm>
            <a:off x="6903720" y="3163824"/>
            <a:ext cx="475488" cy="475488"/>
          </a:xfrm>
          <a:prstGeom prst="ellipse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903720" y="316382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FFFFFF"/>
                </a:solidFill>
                <a:latin typeface="Arial"/>
                <a:ea typeface="黑体"/>
                <a:cs typeface="黑体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2824" y="2706624"/>
            <a:ext cx="17373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示例年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2824" y="3730752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推进：数据与证据补齐</a:t>
            </a:r>
          </a:p>
        </p:txBody>
      </p:sp>
      <p:sp>
        <p:nvSpPr>
          <p:cNvPr id="23" name="Oval 22"/>
          <p:cNvSpPr/>
          <p:nvPr/>
        </p:nvSpPr>
        <p:spPr>
          <a:xfrm>
            <a:off x="9720072" y="3163824"/>
            <a:ext cx="475488" cy="475488"/>
          </a:xfrm>
          <a:prstGeom prst="ellipse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720072" y="316382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FFFFFF"/>
                </a:solidFill>
                <a:latin typeface="Arial"/>
                <a:ea typeface="黑体"/>
                <a:cs typeface="黑体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9176" y="2706624"/>
            <a:ext cx="17373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示例年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09176" y="3730752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收束：结论与口径复核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846320"/>
            <a:ext cx="11850624" cy="100584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02920" y="4846320"/>
            <a:ext cx="41148" cy="1005840"/>
          </a:xfrm>
          <a:prstGeom prst="rect">
            <a:avLst/>
          </a:prstGeom>
          <a:solidFill>
            <a:srgbClr val="4F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94944" y="4937760"/>
            <a:ext cx="1146657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结论占位：时间线只标真正改变方向的事件，不把日常进度也排上去。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0" y="219456"/>
            <a:ext cx="5577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 · 汇报页骨架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21440" y="219456"/>
            <a:ext cx="8321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850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示例页：层级关系用宽度变化表达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8506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层级用逐层加宽的条带表达，不用三个同样大的方块并排。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1850624" cy="10972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456432" y="1920240"/>
            <a:ext cx="5943600" cy="960120"/>
          </a:xfrm>
          <a:prstGeom prst="rect">
            <a:avLst/>
          </a:prstGeom>
          <a:solidFill>
            <a:srgbClr val="283E4E"/>
          </a:solidFill>
          <a:ln w="9525">
            <a:solidFill>
              <a:srgbClr val="B7C1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30752" y="2029968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>
                <a:solidFill>
                  <a:srgbClr val="FFFFFF"/>
                </a:solidFill>
                <a:latin typeface="Arial"/>
                <a:ea typeface="黑体"/>
                <a:cs typeface="黑体"/>
              </a:rPr>
              <a:t>上层：总目标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0752" y="2414016"/>
            <a:ext cx="5394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一句话说清这套汇报要证明什么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96312" y="2980944"/>
            <a:ext cx="7863840" cy="960120"/>
          </a:xfrm>
          <a:prstGeom prst="rect">
            <a:avLst/>
          </a:prstGeom>
          <a:solidFill>
            <a:srgbClr val="4A6577"/>
          </a:solidFill>
          <a:ln w="9525">
            <a:solidFill>
              <a:srgbClr val="B7C1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770632" y="3090672"/>
            <a:ext cx="7315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>
                <a:solidFill>
                  <a:srgbClr val="FFFFFF"/>
                </a:solidFill>
                <a:latin typeface="Arial"/>
                <a:ea typeface="黑体"/>
                <a:cs typeface="黑体"/>
              </a:rPr>
              <a:t>中层：三条主线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0632" y="3474720"/>
            <a:ext cx="7315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把证据按主线分组，每条只讲一个机制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36192" y="4041648"/>
            <a:ext cx="9784080" cy="960120"/>
          </a:xfrm>
          <a:prstGeom prst="rect">
            <a:avLst/>
          </a:prstGeom>
          <a:solidFill>
            <a:srgbClr val="4F7C74"/>
          </a:solidFill>
          <a:ln w="9525">
            <a:solidFill>
              <a:srgbClr val="B7C1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810512" y="4151376"/>
            <a:ext cx="9235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>
                <a:solidFill>
                  <a:srgbClr val="FFFFFF"/>
                </a:solidFill>
                <a:latin typeface="Arial"/>
                <a:ea typeface="黑体"/>
                <a:cs typeface="黑体"/>
              </a:rPr>
              <a:t>下层：具体实证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0512" y="4535424"/>
            <a:ext cx="9235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指标、数值、口径逐条落到同一句里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230368"/>
            <a:ext cx="118506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判断占位：层级越往上越概括，越往下越具体；同级信息必须同宽，不靠字号区分层级。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0" y="219456"/>
            <a:ext cx="5577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 · 汇报页骨架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21440" y="219456"/>
            <a:ext cx="8321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850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示例页：循环关系用中心与节点表达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8506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闭环、迭代、聚合关系用中心圆加周边节点，不用箭头回环堆满页面。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1850624" cy="10972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4434840" y="2834640"/>
            <a:ext cx="2926080" cy="2926080"/>
          </a:xfrm>
          <a:prstGeom prst="ellipse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09160" y="3584448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>
                <a:solidFill>
                  <a:srgbClr val="FFFFFF"/>
                </a:solidFill>
                <a:latin typeface="Arial"/>
                <a:ea typeface="黑体"/>
                <a:cs typeface="黑体"/>
              </a:rPr>
              <a:t>中心主题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4261104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一句话定义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2468880"/>
            <a:ext cx="1783080" cy="1097280"/>
          </a:xfrm>
          <a:prstGeom prst="roundRect">
            <a:avLst/>
          </a:prstGeom>
          <a:solidFill>
            <a:srgbClr val="D6E5E1"/>
          </a:solidFill>
          <a:ln w="9525">
            <a:solidFill>
              <a:srgbClr val="B7C1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44168" y="2615184"/>
            <a:ext cx="1563624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>
                <a:solidFill>
                  <a:srgbClr val="2F4E48"/>
                </a:solidFill>
                <a:latin typeface="Arial"/>
                <a:ea typeface="黑体"/>
                <a:cs typeface="黑体"/>
              </a:rPr>
              <a:t>节点一</a:t>
            </a: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
说明占位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2468880"/>
            <a:ext cx="1783080" cy="1097280"/>
          </a:xfrm>
          <a:prstGeom prst="roundRect">
            <a:avLst/>
          </a:prstGeom>
          <a:solidFill>
            <a:srgbClr val="D6E5E1"/>
          </a:solidFill>
          <a:ln w="9525">
            <a:solidFill>
              <a:srgbClr val="B7C1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299448" y="2615184"/>
            <a:ext cx="1563624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>
                <a:solidFill>
                  <a:srgbClr val="2F4E48"/>
                </a:solidFill>
                <a:latin typeface="Arial"/>
                <a:ea typeface="黑体"/>
                <a:cs typeface="黑体"/>
              </a:rPr>
              <a:t>节点二</a:t>
            </a: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
说明占位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4297680"/>
            <a:ext cx="1783080" cy="1097280"/>
          </a:xfrm>
          <a:prstGeom prst="roundRect">
            <a:avLst/>
          </a:prstGeom>
          <a:solidFill>
            <a:srgbClr val="D6E5E1"/>
          </a:solidFill>
          <a:ln w="9525">
            <a:solidFill>
              <a:srgbClr val="B7C1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344168" y="4443984"/>
            <a:ext cx="1563624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>
                <a:solidFill>
                  <a:srgbClr val="2F4E48"/>
                </a:solidFill>
                <a:latin typeface="Arial"/>
                <a:ea typeface="黑体"/>
                <a:cs typeface="黑体"/>
              </a:rPr>
              <a:t>节点三</a:t>
            </a: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
说明占位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4297680"/>
            <a:ext cx="1783080" cy="1097280"/>
          </a:xfrm>
          <a:prstGeom prst="roundRect">
            <a:avLst/>
          </a:prstGeom>
          <a:solidFill>
            <a:srgbClr val="D6E5E1"/>
          </a:solidFill>
          <a:ln w="9525">
            <a:solidFill>
              <a:srgbClr val="B7C1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99448" y="4443984"/>
            <a:ext cx="1563624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>
                <a:solidFill>
                  <a:srgbClr val="2F4E48"/>
                </a:solidFill>
                <a:latin typeface="Arial"/>
                <a:ea typeface="黑体"/>
                <a:cs typeface="黑体"/>
              </a:rPr>
              <a:t>节点四</a:t>
            </a: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
说明占位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943600"/>
            <a:ext cx="11850624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判断占位：闭环的关键是回到起点时标准变了，而不是把四步原样转一圈。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85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 · 纯文字观点页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37360"/>
            <a:ext cx="41148" cy="2377440"/>
          </a:xfrm>
          <a:prstGeom prst="rect">
            <a:avLst/>
          </a:prstGeom>
          <a:solidFill>
            <a:srgbClr val="8C5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11155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宁可没有，不能乱加。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>
                <a:solidFill>
                  <a:srgbClr val="000000"/>
                </a:solidFill>
                <a:latin typeface="Times New Roman"/>
                <a:ea typeface="楷体"/>
                <a:cs typeface="楷体"/>
              </a:rPr>
              <a:t>纯文字页允许存在，但必须有字号层级、留白和对齐结构，不能是一大段文字居中堆着。这一页用 36pt 主句、20pt 次级句和 16pt 小字建立三级层次，靠留白承担视觉任务。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89120"/>
            <a:ext cx="111556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4A6577"/>
                </a:solidFill>
                <a:latin typeface="Times New Roman"/>
                <a:ea typeface="宋体"/>
                <a:cs typeface="宋体"/>
              </a:rPr>
              <a:t>整套演示里纯文字页建议不超过两成；只有核心观点、引用、转折和结尾适合这样处理。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