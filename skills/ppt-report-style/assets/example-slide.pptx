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858750" cy="72326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283E4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甲</c:v>
                </c:pt>
                <c:pt idx="1">
                  <c:v>乙</c:v>
                </c:pt>
                <c:pt idx="2">
                  <c:v>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45</c:v>
                </c:pt>
                <c:pt idx="2">
                  <c:v>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00" b="1">
                  <a:solidFill>
                    <a:srgbClr val="283E4E"/>
                  </a:solidFill>
                  <a:latin typeface="黑体"/>
                  <a:ea typeface="黑体"/>
                  <a:cs typeface="黑体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283E4E"/>
            </a:solidFill>
          </a:ln>
        </c:spPr>
        <c:txPr>
          <a:bodyPr/>
          <a:lstStyle/>
          <a:p>
            <a:pPr>
              <a:defRPr sz="1600">
                <a:solidFill>
                  <a:srgbClr val="000000"/>
                </a:solidFill>
                <a:latin typeface="宋体"/>
                <a:ea typeface="宋体"/>
                <a:cs typeface="宋体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1"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000000"/>
          </a:solidFill>
          <a:latin typeface="宋体"/>
          <a:ea typeface="宋体"/>
          <a:cs typeface="宋体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【示例页 · 讲稿模板】</a:t>
            </a:r>
          </a:p>
          <a:p>
            <a:r>
              <a:t>本页只是版式示例，所有数值都是虚构占位数据，不要当作真实结论引用。</a:t>
            </a:r>
          </a:p>
          <a:p>
            <a:r>
              <a:t>讲解时按这个节奏走：先用一句话导语说明这一页要回答什么问题；再逐条讲三条实证，每条都是"指标名 + 数值 + 口径"写在同一句里；然后用一句判断收束，把数字背后的含义说清楚；最后用底部结论条点出证据强弱与边界。</a:t>
            </a:r>
          </a:p>
          <a:p>
            <a:r>
              <a:t>如果换成真实数据，来源、统计口径、发布时间一律写进备注，不要放到版面上。</a:t>
            </a:r>
          </a:p>
          <a:p>
            <a:r>
              <a:t>按这个节奏讲完大约需要一分钟。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【表格示例页 · 讲稿模板】</a:t>
            </a:r>
          </a:p>
          <a:p>
            <a:r>
              <a:t>本页演示"强数据用表格"的样式：表头用主题色底白字，数值列用主题色，正文用黑色，交替行加浅底。</a:t>
            </a:r>
          </a:p>
          <a:p>
            <a:r>
              <a:t>讲的时候不要逐格念表，而是先说这张表回答什么问题、结论是什么，再点出两三个关键数字的变化。</a:t>
            </a:r>
          </a:p>
          <a:p>
            <a:r>
              <a:t>如果这个表格承载的是需要逐项核对的内容，就把口径与来源写进备注，必要时附一句"该列数据截至某年某月"。</a:t>
            </a:r>
          </a:p>
          <a:p>
            <a:r>
              <a:t>表格页通常比图示页快，一分钟左右讲完。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37744"/>
            <a:ext cx="5577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37744"/>
            <a:ext cx="832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850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示例页：左文右图与几何记忆点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850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本示例仅演示版式与视觉规范，数值均为虚构占位数据。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591056"/>
            <a:ext cx="6492240" cy="86868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591056"/>
            <a:ext cx="41148" cy="86868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682496"/>
            <a:ext cx="6163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000000"/>
                </a:solidFill>
                <a:latin typeface="楷体"/>
                <a:ea typeface="楷体"/>
                <a:cs typeface="楷体"/>
              </a:rPr>
              <a:t>这是导语块：演示位置、字号、行距与浅底强调样式，文字内容为占位示意。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96896"/>
            <a:ext cx="41148" cy="60350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4944" y="2596896"/>
            <a:ext cx="62544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示例指标 A 达到 </a:t>
            </a: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38.6</a:t>
            </a: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36976"/>
            <a:ext cx="41148" cy="60350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3236976"/>
            <a:ext cx="62544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示例指标 B 同比变化 </a:t>
            </a: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+12.4</a:t>
            </a: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77056"/>
            <a:ext cx="41148" cy="60350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77056"/>
            <a:ext cx="62544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示例指标 C 覆盖范围 </a:t>
            </a: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1,200</a:t>
            </a: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6492240" cy="96012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626864"/>
            <a:ext cx="41148" cy="96012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4718304"/>
            <a:ext cx="616305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示例判断句：用一句话收束左侧信息，主题色加粗，作为口头汇报的落点。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1591056"/>
            <a:ext cx="5175504" cy="1572768"/>
          </a:xfrm>
          <a:prstGeom prst="rect">
            <a:avLst/>
          </a:prstGeom>
          <a:solidFill>
            <a:srgbClr val="F1F5F8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78040" y="21031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占位配图区域：实稿放实景照片，按框裁切填满。</a:t>
            </a:r>
          </a:p>
        </p:txBody>
      </p:sp>
      <p:sp>
        <p:nvSpPr>
          <p:cNvPr id="21" name="Oval 20"/>
          <p:cNvSpPr/>
          <p:nvPr/>
        </p:nvSpPr>
        <p:spPr>
          <a:xfrm>
            <a:off x="7178040" y="3346704"/>
            <a:ext cx="1645920" cy="1645920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69480" y="374903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38.6%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261104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占位数值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34670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对比图（示例）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098280" y="3621024"/>
          <a:ext cx="3255264" cy="2212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6181344"/>
            <a:ext cx="41148" cy="51206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94944" y="6181344"/>
            <a:ext cx="11521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示例结论条：用一句话写清证据强弱与边界，作为整页的落点。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37744"/>
            <a:ext cx="5577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37744"/>
            <a:ext cx="832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850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示例页：强数据内容用表格承载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850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指标对比、口径对照、多维数据用表格；叙事与机制内容用方块。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00784"/>
          <a:ext cx="1185062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1920240"/>
                <a:gridCol w="1920240"/>
                <a:gridCol w="3346704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指标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2024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2025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变化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口径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指标甲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1,180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1,420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+20.3%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指标乙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62.1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58.4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-3.7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指标丙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340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512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+50.6%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指标丁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9.6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12.8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+33.3%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120640"/>
            <a:ext cx="41148" cy="82296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5120640"/>
            <a:ext cx="11521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表格页同样遵守字号下限与三色限制：表头主题色底白字，关键数值主题色，正文黑色。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